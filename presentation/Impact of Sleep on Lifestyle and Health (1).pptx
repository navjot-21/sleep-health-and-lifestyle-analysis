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anva Sans Bold" panose="020B0604020202020204" charset="0"/>
      <p:regular r:id="rId21"/>
    </p:embeddedFont>
    <p:embeddedFont>
      <p:font typeface="Glacial Indifference" panose="020B0604020202020204" charset="0"/>
      <p:regular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TAN Headline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BD5FF-EFF3-4DFA-B7C0-34714DBF39BA}" v="208" dt="2026-06-18T16:18:10.8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sv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0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0.sv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10.svg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780" y="-3990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0"/>
                </a:moveTo>
                <a:lnTo>
                  <a:pt x="0" y="0"/>
                </a:lnTo>
                <a:lnTo>
                  <a:pt x="0" y="3235415"/>
                </a:lnTo>
                <a:lnTo>
                  <a:pt x="4720101" y="3235415"/>
                </a:lnTo>
                <a:lnTo>
                  <a:pt x="472010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663483">
            <a:off x="2904512" y="3937961"/>
            <a:ext cx="443225" cy="464011"/>
            <a:chOff x="0" y="0"/>
            <a:chExt cx="77638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6389" cy="812800"/>
            </a:xfrm>
            <a:custGeom>
              <a:avLst/>
              <a:gdLst/>
              <a:ahLst/>
              <a:cxnLst/>
              <a:rect l="l" t="t" r="r" b="b"/>
              <a:pathLst>
                <a:path w="776389" h="812800">
                  <a:moveTo>
                    <a:pt x="388195" y="0"/>
                  </a:moveTo>
                  <a:cubicBezTo>
                    <a:pt x="173801" y="0"/>
                    <a:pt x="0" y="181951"/>
                    <a:pt x="0" y="406400"/>
                  </a:cubicBezTo>
                  <a:cubicBezTo>
                    <a:pt x="0" y="630849"/>
                    <a:pt x="173801" y="812800"/>
                    <a:pt x="388195" y="812800"/>
                  </a:cubicBezTo>
                  <a:cubicBezTo>
                    <a:pt x="602588" y="812800"/>
                    <a:pt x="776389" y="630849"/>
                    <a:pt x="776389" y="406400"/>
                  </a:cubicBezTo>
                  <a:cubicBezTo>
                    <a:pt x="776389" y="181951"/>
                    <a:pt x="602588" y="0"/>
                    <a:pt x="388195" y="0"/>
                  </a:cubicBezTo>
                  <a:close/>
                </a:path>
              </a:pathLst>
            </a:custGeom>
            <a:solidFill>
              <a:srgbClr val="F7C9B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2786" y="38100"/>
              <a:ext cx="63081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60528">
            <a:off x="3468631" y="4042487"/>
            <a:ext cx="443225" cy="464011"/>
            <a:chOff x="0" y="0"/>
            <a:chExt cx="776389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6389" cy="812800"/>
            </a:xfrm>
            <a:custGeom>
              <a:avLst/>
              <a:gdLst/>
              <a:ahLst/>
              <a:cxnLst/>
              <a:rect l="l" t="t" r="r" b="b"/>
              <a:pathLst>
                <a:path w="776389" h="812800">
                  <a:moveTo>
                    <a:pt x="388195" y="0"/>
                  </a:moveTo>
                  <a:cubicBezTo>
                    <a:pt x="173801" y="0"/>
                    <a:pt x="0" y="181951"/>
                    <a:pt x="0" y="406400"/>
                  </a:cubicBezTo>
                  <a:cubicBezTo>
                    <a:pt x="0" y="630849"/>
                    <a:pt x="173801" y="812800"/>
                    <a:pt x="388195" y="812800"/>
                  </a:cubicBezTo>
                  <a:cubicBezTo>
                    <a:pt x="602588" y="812800"/>
                    <a:pt x="776389" y="630849"/>
                    <a:pt x="776389" y="406400"/>
                  </a:cubicBezTo>
                  <a:cubicBezTo>
                    <a:pt x="776389" y="181951"/>
                    <a:pt x="602588" y="0"/>
                    <a:pt x="388195" y="0"/>
                  </a:cubicBezTo>
                  <a:close/>
                </a:path>
              </a:pathLst>
            </a:custGeom>
            <a:solidFill>
              <a:srgbClr val="F7C9B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2786" y="38100"/>
              <a:ext cx="63081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16200000" flipV="1">
            <a:off x="14473643" y="-984172"/>
            <a:ext cx="3007180" cy="4966814"/>
          </a:xfrm>
          <a:custGeom>
            <a:avLst/>
            <a:gdLst/>
            <a:ahLst/>
            <a:cxnLst/>
            <a:rect l="l" t="t" r="r" b="b"/>
            <a:pathLst>
              <a:path w="3007180" h="4966814">
                <a:moveTo>
                  <a:pt x="0" y="4966814"/>
                </a:moveTo>
                <a:lnTo>
                  <a:pt x="3007180" y="4966814"/>
                </a:lnTo>
                <a:lnTo>
                  <a:pt x="3007180" y="0"/>
                </a:lnTo>
                <a:lnTo>
                  <a:pt x="0" y="0"/>
                </a:lnTo>
                <a:lnTo>
                  <a:pt x="0" y="496681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319655" y="5343883"/>
            <a:ext cx="4966814" cy="4894569"/>
          </a:xfrm>
          <a:custGeom>
            <a:avLst/>
            <a:gdLst/>
            <a:ahLst/>
            <a:cxnLst/>
            <a:rect l="l" t="t" r="r" b="b"/>
            <a:pathLst>
              <a:path w="4966814" h="4894569">
                <a:moveTo>
                  <a:pt x="0" y="0"/>
                </a:moveTo>
                <a:lnTo>
                  <a:pt x="4966814" y="0"/>
                </a:lnTo>
                <a:lnTo>
                  <a:pt x="4966814" y="4894569"/>
                </a:lnTo>
                <a:lnTo>
                  <a:pt x="0" y="4894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216740" y="2017505"/>
            <a:ext cx="10739246" cy="4863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005"/>
              </a:lnSpc>
            </a:pPr>
            <a:r>
              <a:rPr lang="en-US" sz="8500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Impact of Sleep on Lifestyle and Health</a:t>
            </a:r>
          </a:p>
        </p:txBody>
      </p:sp>
      <p:sp>
        <p:nvSpPr>
          <p:cNvPr id="12" name="Freeform 12"/>
          <p:cNvSpPr/>
          <p:nvPr/>
        </p:nvSpPr>
        <p:spPr>
          <a:xfrm>
            <a:off x="0" y="32657"/>
            <a:ext cx="6768360" cy="10221687"/>
          </a:xfrm>
          <a:custGeom>
            <a:avLst/>
            <a:gdLst/>
            <a:ahLst/>
            <a:cxnLst/>
            <a:rect l="l" t="t" r="r" b="b"/>
            <a:pathLst>
              <a:path w="6768360" h="10287000">
                <a:moveTo>
                  <a:pt x="0" y="0"/>
                </a:moveTo>
                <a:lnTo>
                  <a:pt x="6768360" y="0"/>
                </a:lnTo>
                <a:lnTo>
                  <a:pt x="67683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</a:blip>
            <a:stretch>
              <a:fillRect l="-34108" r="-1787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91517" y="6882916"/>
            <a:ext cx="3340526" cy="3362649"/>
          </a:xfrm>
          <a:custGeom>
            <a:avLst/>
            <a:gdLst/>
            <a:ahLst/>
            <a:cxnLst/>
            <a:rect l="l" t="t" r="r" b="b"/>
            <a:pathLst>
              <a:path w="3340526" h="3362649">
                <a:moveTo>
                  <a:pt x="0" y="0"/>
                </a:moveTo>
                <a:lnTo>
                  <a:pt x="3340527" y="0"/>
                </a:lnTo>
                <a:lnTo>
                  <a:pt x="3340527" y="3362649"/>
                </a:lnTo>
                <a:lnTo>
                  <a:pt x="0" y="336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0000"/>
            </a:blip>
            <a:stretch>
              <a:fillRect l="-42514" t="-34535" r="-30453" b="-3729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192632" y="194565"/>
            <a:ext cx="2950318" cy="1668271"/>
          </a:xfrm>
          <a:custGeom>
            <a:avLst/>
            <a:gdLst/>
            <a:ahLst/>
            <a:cxnLst/>
            <a:rect l="l" t="t" r="r" b="b"/>
            <a:pathLst>
              <a:path w="2950318" h="1668271">
                <a:moveTo>
                  <a:pt x="0" y="0"/>
                </a:moveTo>
                <a:lnTo>
                  <a:pt x="2950318" y="0"/>
                </a:lnTo>
                <a:lnTo>
                  <a:pt x="2950318" y="1668270"/>
                </a:lnTo>
                <a:lnTo>
                  <a:pt x="0" y="1668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149579" y="28836"/>
            <a:ext cx="3316895" cy="2351980"/>
          </a:xfrm>
          <a:custGeom>
            <a:avLst/>
            <a:gdLst/>
            <a:ahLst/>
            <a:cxnLst/>
            <a:rect l="l" t="t" r="r" b="b"/>
            <a:pathLst>
              <a:path w="3316895" h="2351980">
                <a:moveTo>
                  <a:pt x="0" y="0"/>
                </a:moveTo>
                <a:lnTo>
                  <a:pt x="3316896" y="0"/>
                </a:lnTo>
                <a:lnTo>
                  <a:pt x="3316896" y="2351980"/>
                </a:lnTo>
                <a:lnTo>
                  <a:pt x="0" y="23519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9000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62298" y="8270416"/>
            <a:ext cx="2197266" cy="1975768"/>
          </a:xfrm>
          <a:custGeom>
            <a:avLst/>
            <a:gdLst/>
            <a:ahLst/>
            <a:cxnLst/>
            <a:rect l="l" t="t" r="r" b="b"/>
            <a:pathLst>
              <a:path w="2197266" h="1975768">
                <a:moveTo>
                  <a:pt x="0" y="0"/>
                </a:moveTo>
                <a:lnTo>
                  <a:pt x="2197265" y="0"/>
                </a:lnTo>
                <a:lnTo>
                  <a:pt x="2197265" y="1975768"/>
                </a:lnTo>
                <a:lnTo>
                  <a:pt x="0" y="19757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0000"/>
            </a:blip>
            <a:stretch>
              <a:fillRect t="-22686" b="-22686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368445" y="5215"/>
            <a:ext cx="3919766" cy="4090838"/>
          </a:xfrm>
          <a:custGeom>
            <a:avLst/>
            <a:gdLst/>
            <a:ahLst/>
            <a:cxnLst/>
            <a:rect l="l" t="t" r="r" b="b"/>
            <a:pathLst>
              <a:path w="3919766" h="4090838">
                <a:moveTo>
                  <a:pt x="0" y="4090837"/>
                </a:moveTo>
                <a:lnTo>
                  <a:pt x="3919766" y="4090837"/>
                </a:lnTo>
                <a:lnTo>
                  <a:pt x="3919766" y="0"/>
                </a:lnTo>
                <a:lnTo>
                  <a:pt x="0" y="0"/>
                </a:lnTo>
                <a:lnTo>
                  <a:pt x="0" y="409083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780" y="-3990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0"/>
                </a:moveTo>
                <a:lnTo>
                  <a:pt x="0" y="0"/>
                </a:lnTo>
                <a:lnTo>
                  <a:pt x="0" y="3235415"/>
                </a:lnTo>
                <a:lnTo>
                  <a:pt x="4720101" y="3235415"/>
                </a:lnTo>
                <a:lnTo>
                  <a:pt x="472010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1697900"/>
            <a:ext cx="18288000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265130" y="3948456"/>
            <a:ext cx="12047410" cy="3746249"/>
            <a:chOff x="0" y="0"/>
            <a:chExt cx="16063214" cy="499499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6063214" cy="4994998"/>
              <a:chOff x="0" y="0"/>
              <a:chExt cx="964044" cy="29977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64044" cy="299778"/>
              </a:xfrm>
              <a:custGeom>
                <a:avLst/>
                <a:gdLst/>
                <a:ahLst/>
                <a:cxnLst/>
                <a:rect l="l" t="t" r="r" b="b"/>
                <a:pathLst>
                  <a:path w="964044" h="299778">
                    <a:moveTo>
                      <a:pt x="50205" y="0"/>
                    </a:moveTo>
                    <a:lnTo>
                      <a:pt x="913839" y="0"/>
                    </a:lnTo>
                    <a:cubicBezTo>
                      <a:pt x="941567" y="0"/>
                      <a:pt x="964044" y="22477"/>
                      <a:pt x="964044" y="50205"/>
                    </a:cubicBezTo>
                    <a:lnTo>
                      <a:pt x="964044" y="249573"/>
                    </a:lnTo>
                    <a:cubicBezTo>
                      <a:pt x="964044" y="262888"/>
                      <a:pt x="958755" y="275658"/>
                      <a:pt x="949339" y="285073"/>
                    </a:cubicBezTo>
                    <a:cubicBezTo>
                      <a:pt x="939924" y="294489"/>
                      <a:pt x="927154" y="299778"/>
                      <a:pt x="913839" y="299778"/>
                    </a:cubicBezTo>
                    <a:lnTo>
                      <a:pt x="50205" y="299778"/>
                    </a:lnTo>
                    <a:cubicBezTo>
                      <a:pt x="36890" y="299778"/>
                      <a:pt x="24120" y="294489"/>
                      <a:pt x="14705" y="285073"/>
                    </a:cubicBezTo>
                    <a:cubicBezTo>
                      <a:pt x="5289" y="275658"/>
                      <a:pt x="0" y="262888"/>
                      <a:pt x="0" y="249573"/>
                    </a:cubicBezTo>
                    <a:lnTo>
                      <a:pt x="0" y="50205"/>
                    </a:lnTo>
                    <a:cubicBezTo>
                      <a:pt x="0" y="36890"/>
                      <a:pt x="5289" y="24120"/>
                      <a:pt x="14705" y="14705"/>
                    </a:cubicBezTo>
                    <a:cubicBezTo>
                      <a:pt x="24120" y="5289"/>
                      <a:pt x="36890" y="0"/>
                      <a:pt x="50205" y="0"/>
                    </a:cubicBezTo>
                    <a:close/>
                  </a:path>
                </a:pathLst>
              </a:custGeom>
              <a:solidFill>
                <a:srgbClr val="C6A8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64044" cy="3378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40636" y="430552"/>
              <a:ext cx="12904276" cy="3283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5" lvl="1" indent="-302257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Understand sleep patterns.</a:t>
              </a:r>
            </a:p>
            <a:p>
              <a:pPr marL="604515" lvl="1" indent="-302257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Study the relationship between sleep and stress.</a:t>
              </a:r>
            </a:p>
            <a:p>
              <a:pPr marL="604515" lvl="1" indent="-302257" algn="l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Analyze lifestyle factors affecting sleep.</a:t>
              </a:r>
            </a:p>
            <a:p>
              <a:pPr marL="604515" lvl="1" indent="-302257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Investigate the impact on cardiovascular health.</a:t>
              </a:r>
            </a:p>
            <a:p>
              <a:pPr marL="604515" lvl="1" indent="-302257" algn="l">
                <a:lnSpc>
                  <a:spcPts val="39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Examine the role of sleep disorders.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523996" y="3039839"/>
            <a:ext cx="12293506" cy="37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  <a:spcBef>
                <a:spcPct val="0"/>
              </a:spcBef>
            </a:pPr>
            <a:r>
              <a:rPr lang="en-US" sz="22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Modern lifestyles often compromise sleep, leading to stress and health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200000">
            <a:off x="982083" y="-975736"/>
            <a:ext cx="3007180" cy="4966814"/>
          </a:xfrm>
          <a:custGeom>
            <a:avLst/>
            <a:gdLst/>
            <a:ahLst/>
            <a:cxnLst/>
            <a:rect l="l" t="t" r="r" b="b"/>
            <a:pathLst>
              <a:path w="3007180" h="4966814">
                <a:moveTo>
                  <a:pt x="0" y="0"/>
                </a:moveTo>
                <a:lnTo>
                  <a:pt x="3007180" y="0"/>
                </a:lnTo>
                <a:lnTo>
                  <a:pt x="3007180" y="4966814"/>
                </a:lnTo>
                <a:lnTo>
                  <a:pt x="0" y="496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3573307" y="7052764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0" y="3235414"/>
                </a:moveTo>
                <a:lnTo>
                  <a:pt x="4720101" y="3235414"/>
                </a:lnTo>
                <a:lnTo>
                  <a:pt x="4720101" y="0"/>
                </a:lnTo>
                <a:lnTo>
                  <a:pt x="0" y="0"/>
                </a:lnTo>
                <a:lnTo>
                  <a:pt x="0" y="323541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1976375" y="4786669"/>
            <a:ext cx="7309644" cy="3409929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1" y="0"/>
                </a:lnTo>
                <a:lnTo>
                  <a:pt x="5872731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76076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Dataset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37529" y="2932060"/>
            <a:ext cx="8480799" cy="5745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Age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Gender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Occupation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Sleep Duration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Quality of Sleep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Stress Level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Physical Activity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Daily Steps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BMI Category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Blood Pressure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  <a:p>
            <a:pPr marL="626110" lvl="1" indent="-313055" algn="just">
              <a:lnSpc>
                <a:spcPts val="40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Sleep Disorder</a:t>
            </a:r>
            <a:endParaRPr lang="en-US" sz="320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78572" y="7916810"/>
            <a:ext cx="4075735" cy="75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374 individuals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13+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6200000">
            <a:off x="982083" y="-975736"/>
            <a:ext cx="3007180" cy="4966814"/>
          </a:xfrm>
          <a:custGeom>
            <a:avLst/>
            <a:gdLst/>
            <a:ahLst/>
            <a:cxnLst/>
            <a:rect l="l" t="t" r="r" b="b"/>
            <a:pathLst>
              <a:path w="3007180" h="4966814">
                <a:moveTo>
                  <a:pt x="0" y="0"/>
                </a:moveTo>
                <a:lnTo>
                  <a:pt x="3007180" y="0"/>
                </a:lnTo>
                <a:lnTo>
                  <a:pt x="3007180" y="4966814"/>
                </a:lnTo>
                <a:lnTo>
                  <a:pt x="0" y="496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4350" y="2510518"/>
            <a:ext cx="17498785" cy="7777696"/>
          </a:xfrm>
          <a:custGeom>
            <a:avLst/>
            <a:gdLst>
              <a:gd name="csX0" fmla="*/ 0 w 17498785"/>
              <a:gd name="csY0" fmla="*/ 0 h 7777696"/>
              <a:gd name="csX1" fmla="*/ 17498785 w 17498785"/>
              <a:gd name="csY1" fmla="*/ 0 h 7777696"/>
              <a:gd name="csX2" fmla="*/ 17498785 w 17498785"/>
              <a:gd name="csY2" fmla="*/ 7777697 h 7777696"/>
              <a:gd name="csX3" fmla="*/ 0 w 17498785"/>
              <a:gd name="csY3" fmla="*/ 7777697 h 7777696"/>
              <a:gd name="csX4" fmla="*/ 0 w 17498785"/>
              <a:gd name="csY4" fmla="*/ 0 h 77776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98785" h="7777696" fill="none" extrusionOk="0">
                <a:moveTo>
                  <a:pt x="0" y="0"/>
                </a:moveTo>
                <a:cubicBezTo>
                  <a:pt x="6342622" y="-149972"/>
                  <a:pt x="11979180" y="85198"/>
                  <a:pt x="17498785" y="0"/>
                </a:cubicBezTo>
                <a:cubicBezTo>
                  <a:pt x="17668196" y="2916967"/>
                  <a:pt x="17584339" y="6665070"/>
                  <a:pt x="17498785" y="7777697"/>
                </a:cubicBezTo>
                <a:cubicBezTo>
                  <a:pt x="11955459" y="7869073"/>
                  <a:pt x="3275144" y="7771640"/>
                  <a:pt x="0" y="7777697"/>
                </a:cubicBezTo>
                <a:cubicBezTo>
                  <a:pt x="-92943" y="5732931"/>
                  <a:pt x="-168235" y="2021106"/>
                  <a:pt x="0" y="0"/>
                </a:cubicBezTo>
                <a:close/>
              </a:path>
              <a:path w="17498785" h="7777696" stroke="0" extrusionOk="0">
                <a:moveTo>
                  <a:pt x="0" y="0"/>
                </a:moveTo>
                <a:cubicBezTo>
                  <a:pt x="6413251" y="-113254"/>
                  <a:pt x="13776304" y="102601"/>
                  <a:pt x="17498785" y="0"/>
                </a:cubicBezTo>
                <a:cubicBezTo>
                  <a:pt x="17445960" y="2202424"/>
                  <a:pt x="17621959" y="6717761"/>
                  <a:pt x="17498785" y="7777697"/>
                </a:cubicBezTo>
                <a:cubicBezTo>
                  <a:pt x="12395938" y="7833507"/>
                  <a:pt x="8376773" y="7946655"/>
                  <a:pt x="0" y="7777697"/>
                </a:cubicBezTo>
                <a:cubicBezTo>
                  <a:pt x="-144930" y="5367886"/>
                  <a:pt x="-18259" y="3201005"/>
                  <a:pt x="0" y="0"/>
                </a:cubicBezTo>
                <a:close/>
              </a:path>
            </a:pathLst>
          </a:custGeom>
          <a:blipFill>
            <a:blip r:embed="rId3">
              <a:alphaModFix amt="92000"/>
            </a:blip>
            <a:stretch>
              <a:fillRect t="-26546" r="-253" b="-1094"/>
            </a:stretch>
          </a:blipFill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59300" h="7625296">
                        <a:moveTo>
                          <a:pt x="0" y="0"/>
                        </a:moveTo>
                        <a:lnTo>
                          <a:pt x="17259300" y="0"/>
                        </a:lnTo>
                        <a:lnTo>
                          <a:pt x="17259300" y="7625297"/>
                        </a:lnTo>
                        <a:lnTo>
                          <a:pt x="0" y="762529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</p:sp>
      <p:sp>
        <p:nvSpPr>
          <p:cNvPr id="4" name="TextBox 4"/>
          <p:cNvSpPr txBox="1"/>
          <p:nvPr/>
        </p:nvSpPr>
        <p:spPr>
          <a:xfrm>
            <a:off x="0" y="1215752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Data Cleaning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6053" y="8274524"/>
            <a:ext cx="2993835" cy="2012476"/>
          </a:xfrm>
          <a:custGeom>
            <a:avLst/>
            <a:gdLst/>
            <a:ahLst/>
            <a:cxnLst/>
            <a:rect l="l" t="t" r="r" b="b"/>
            <a:pathLst>
              <a:path w="2993835" h="2012476">
                <a:moveTo>
                  <a:pt x="2993835" y="2012476"/>
                </a:moveTo>
                <a:lnTo>
                  <a:pt x="0" y="2012476"/>
                </a:lnTo>
                <a:lnTo>
                  <a:pt x="0" y="0"/>
                </a:lnTo>
                <a:lnTo>
                  <a:pt x="2993835" y="0"/>
                </a:lnTo>
                <a:lnTo>
                  <a:pt x="2993835" y="2012476"/>
                </a:lnTo>
                <a:close/>
              </a:path>
            </a:pathLst>
          </a:custGeom>
          <a:blipFill>
            <a:blip r:embed="rId2"/>
            <a:stretch>
              <a:fillRect t="-985" b="-985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84246" y="1779021"/>
            <a:ext cx="10799305" cy="5858978"/>
          </a:xfrm>
          <a:custGeom>
            <a:avLst/>
            <a:gdLst/>
            <a:ahLst/>
            <a:cxnLst/>
            <a:rect l="l" t="t" r="r" b="b"/>
            <a:pathLst>
              <a:path w="10799305" h="4933693">
                <a:moveTo>
                  <a:pt x="0" y="0"/>
                </a:moveTo>
                <a:lnTo>
                  <a:pt x="10799305" y="0"/>
                </a:lnTo>
                <a:lnTo>
                  <a:pt x="10799305" y="4933693"/>
                </a:lnTo>
                <a:lnTo>
                  <a:pt x="0" y="493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4" r="-1826" b="-214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939" y="2140650"/>
            <a:ext cx="7173478" cy="5878350"/>
          </a:xfrm>
          <a:custGeom>
            <a:avLst/>
            <a:gdLst/>
            <a:ahLst/>
            <a:cxnLst/>
            <a:rect l="l" t="t" r="r" b="b"/>
            <a:pathLst>
              <a:path w="6923107" h="5649750">
                <a:moveTo>
                  <a:pt x="0" y="0"/>
                </a:moveTo>
                <a:lnTo>
                  <a:pt x="6923107" y="0"/>
                </a:lnTo>
                <a:lnTo>
                  <a:pt x="6923107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56197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Understanding Sleep Patterns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1185" y="8911276"/>
            <a:ext cx="16587033" cy="114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Finding:-  Individuals sleeping longer generally experience better quality sleep.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7596" y="8304874"/>
            <a:ext cx="2932348" cy="2009991"/>
          </a:xfrm>
          <a:custGeom>
            <a:avLst/>
            <a:gdLst/>
            <a:ahLst/>
            <a:cxnLst/>
            <a:rect l="l" t="t" r="r" b="b"/>
            <a:pathLst>
              <a:path w="2932348" h="2009991">
                <a:moveTo>
                  <a:pt x="2932348" y="2009991"/>
                </a:moveTo>
                <a:lnTo>
                  <a:pt x="0" y="2009991"/>
                </a:lnTo>
                <a:lnTo>
                  <a:pt x="0" y="0"/>
                </a:lnTo>
                <a:lnTo>
                  <a:pt x="2932348" y="0"/>
                </a:lnTo>
                <a:lnTo>
                  <a:pt x="2932348" y="200999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824632" y="-475960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00000">
            <a:off x="1251" y="-1232786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90445" y="1982126"/>
            <a:ext cx="14210915" cy="6322749"/>
          </a:xfrm>
          <a:custGeom>
            <a:avLst/>
            <a:gdLst/>
            <a:ahLst/>
            <a:cxnLst/>
            <a:rect l="l" t="t" r="r" b="b"/>
            <a:pathLst>
              <a:path w="14210915" h="6322749">
                <a:moveTo>
                  <a:pt x="0" y="0"/>
                </a:moveTo>
                <a:lnTo>
                  <a:pt x="14210915" y="0"/>
                </a:lnTo>
                <a:lnTo>
                  <a:pt x="14210915" y="6322748"/>
                </a:lnTo>
                <a:lnTo>
                  <a:pt x="0" y="6322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77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72487" y="2673076"/>
            <a:ext cx="748698" cy="1071758"/>
            <a:chOff x="0" y="0"/>
            <a:chExt cx="56779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798" cy="812800"/>
            </a:xfrm>
            <a:custGeom>
              <a:avLst/>
              <a:gdLst/>
              <a:ahLst/>
              <a:cxnLst/>
              <a:rect l="l" t="t" r="r" b="b"/>
              <a:pathLst>
                <a:path w="567798" h="812800">
                  <a:moveTo>
                    <a:pt x="283899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364598" y="0"/>
                  </a:lnTo>
                  <a:lnTo>
                    <a:pt x="364598" y="406400"/>
                  </a:lnTo>
                  <a:lnTo>
                    <a:pt x="567798" y="406400"/>
                  </a:lnTo>
                  <a:lnTo>
                    <a:pt x="283899" y="812800"/>
                  </a:lnTo>
                  <a:close/>
                </a:path>
              </a:pathLst>
            </a:custGeom>
            <a:solidFill>
              <a:srgbClr val="C6A8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03200" y="-57150"/>
              <a:ext cx="161398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60007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 Stress and Sleep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915451"/>
            <a:ext cx="2586353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Sleep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40337" y="3678159"/>
            <a:ext cx="2973051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Lower Stress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1185" y="8704080"/>
            <a:ext cx="16587033" cy="114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Finding:-  Stress level is strongly negatively correlated with sleep quality and duration.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66" y="7052764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5980" y="2444769"/>
            <a:ext cx="8767585" cy="6148338"/>
          </a:xfrm>
          <a:custGeom>
            <a:avLst/>
            <a:gdLst/>
            <a:ahLst/>
            <a:cxnLst/>
            <a:rect l="l" t="t" r="r" b="b"/>
            <a:pathLst>
              <a:path w="8767585" h="6148338">
                <a:moveTo>
                  <a:pt x="0" y="0"/>
                </a:moveTo>
                <a:lnTo>
                  <a:pt x="8767585" y="0"/>
                </a:lnTo>
                <a:lnTo>
                  <a:pt x="8767585" y="6148338"/>
                </a:lnTo>
                <a:lnTo>
                  <a:pt x="0" y="6148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2471" y="2325026"/>
            <a:ext cx="8748541" cy="6370183"/>
          </a:xfrm>
          <a:custGeom>
            <a:avLst/>
            <a:gdLst/>
            <a:ahLst/>
            <a:cxnLst/>
            <a:rect l="l" t="t" r="r" b="b"/>
            <a:pathLst>
              <a:path w="8247799" h="6000069">
                <a:moveTo>
                  <a:pt x="0" y="0"/>
                </a:moveTo>
                <a:lnTo>
                  <a:pt x="8247800" y="0"/>
                </a:lnTo>
                <a:lnTo>
                  <a:pt x="8247800" y="6000069"/>
                </a:lnTo>
                <a:lnTo>
                  <a:pt x="0" y="6000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97" r="-1868" b="-53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71279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Lifestyle Factors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66" y="7052765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4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5910" y="1893607"/>
            <a:ext cx="9023845" cy="7342921"/>
          </a:xfrm>
          <a:custGeom>
            <a:avLst/>
            <a:gdLst/>
            <a:ahLst/>
            <a:cxnLst/>
            <a:rect l="l" t="t" r="r" b="b"/>
            <a:pathLst>
              <a:path w="9023845" h="7375578">
                <a:moveTo>
                  <a:pt x="0" y="0"/>
                </a:moveTo>
                <a:lnTo>
                  <a:pt x="9023844" y="0"/>
                </a:lnTo>
                <a:lnTo>
                  <a:pt x="9023844" y="7375578"/>
                </a:lnTo>
                <a:lnTo>
                  <a:pt x="0" y="7375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812043" y="2727573"/>
            <a:ext cx="1201538" cy="120153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71279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Lifestyle Factors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26337" y="2185465"/>
            <a:ext cx="4153733" cy="55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Adequate Sleep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57066" y="4167235"/>
            <a:ext cx="3539897" cy="55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Activity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74680" y="6191162"/>
            <a:ext cx="4142609" cy="55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More Daily Steps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71771" y="8117117"/>
            <a:ext cx="3723883" cy="553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sym typeface="Canva Sans Bold"/>
              </a:rPr>
              <a:t>Healthy BMI</a:t>
            </a:r>
            <a:endParaRPr lang="en-US" dirty="0" err="1"/>
          </a:p>
        </p:txBody>
      </p:sp>
      <p:grpSp>
        <p:nvGrpSpPr>
          <p:cNvPr id="13" name="Group 13"/>
          <p:cNvGrpSpPr/>
          <p:nvPr/>
        </p:nvGrpSpPr>
        <p:grpSpPr>
          <a:xfrm>
            <a:off x="12812043" y="4956388"/>
            <a:ext cx="1201538" cy="120153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12043" y="6906055"/>
            <a:ext cx="1201538" cy="120153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66" y="7052764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6049" y="94297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BMI and Cardiovascular Health</a:t>
            </a:r>
          </a:p>
        </p:txBody>
      </p:sp>
      <p:sp>
        <p:nvSpPr>
          <p:cNvPr id="5" name="Freeform 5"/>
          <p:cNvSpPr/>
          <p:nvPr/>
        </p:nvSpPr>
        <p:spPr>
          <a:xfrm rot="10800000">
            <a:off x="1166" y="4093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800000">
            <a:off x="12410965" y="6833529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08924" y="2002978"/>
            <a:ext cx="13081934" cy="7591604"/>
          </a:xfrm>
          <a:custGeom>
            <a:avLst/>
            <a:gdLst/>
            <a:ahLst/>
            <a:cxnLst/>
            <a:rect l="l" t="t" r="r" b="b"/>
            <a:pathLst>
              <a:path w="11242249" h="6764290">
                <a:moveTo>
                  <a:pt x="0" y="0"/>
                </a:moveTo>
                <a:lnTo>
                  <a:pt x="11242249" y="0"/>
                </a:lnTo>
                <a:lnTo>
                  <a:pt x="11242249" y="6764290"/>
                </a:lnTo>
                <a:lnTo>
                  <a:pt x="0" y="6764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4272" y="8512441"/>
            <a:ext cx="1911587" cy="17876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5"/>
                </a:moveTo>
                <a:lnTo>
                  <a:pt x="0" y="3235415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6049" y="94297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BMI and Cardiovascular Health</a:t>
            </a:r>
          </a:p>
        </p:txBody>
      </p:sp>
      <p:sp>
        <p:nvSpPr>
          <p:cNvPr id="5" name="Freeform 5"/>
          <p:cNvSpPr/>
          <p:nvPr/>
        </p:nvSpPr>
        <p:spPr>
          <a:xfrm rot="10800000">
            <a:off x="1167" y="4094"/>
            <a:ext cx="2443732" cy="2266929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800000">
            <a:off x="2929508" y="-2701"/>
            <a:ext cx="3281932" cy="2256044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66665" y="2005194"/>
            <a:ext cx="7981324" cy="5635399"/>
          </a:xfrm>
          <a:custGeom>
            <a:avLst/>
            <a:gdLst/>
            <a:ahLst/>
            <a:cxnLst/>
            <a:rect l="l" t="t" r="r" b="b"/>
            <a:pathLst>
              <a:path w="6947182" h="5613628">
                <a:moveTo>
                  <a:pt x="0" y="0"/>
                </a:moveTo>
                <a:lnTo>
                  <a:pt x="6947182" y="0"/>
                </a:lnTo>
                <a:lnTo>
                  <a:pt x="6947182" y="5613628"/>
                </a:lnTo>
                <a:lnTo>
                  <a:pt x="0" y="5613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77879" y="1983423"/>
            <a:ext cx="8857761" cy="5665611"/>
          </a:xfrm>
          <a:custGeom>
            <a:avLst/>
            <a:gdLst/>
            <a:ahLst/>
            <a:cxnLst/>
            <a:rect l="l" t="t" r="r" b="b"/>
            <a:pathLst>
              <a:path w="6822134" h="5632954">
                <a:moveTo>
                  <a:pt x="0" y="0"/>
                </a:moveTo>
                <a:lnTo>
                  <a:pt x="6822134" y="0"/>
                </a:lnTo>
                <a:lnTo>
                  <a:pt x="6822134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973051" y="8302242"/>
            <a:ext cx="2217476" cy="1050884"/>
            <a:chOff x="0" y="0"/>
            <a:chExt cx="857547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7547" cy="406400"/>
            </a:xfrm>
            <a:custGeom>
              <a:avLst/>
              <a:gdLst/>
              <a:ahLst/>
              <a:cxnLst/>
              <a:rect l="l" t="t" r="r" b="b"/>
              <a:pathLst>
                <a:path w="857547" h="406400">
                  <a:moveTo>
                    <a:pt x="857547" y="203200"/>
                  </a:moveTo>
                  <a:lnTo>
                    <a:pt x="451147" y="0"/>
                  </a:lnTo>
                  <a:lnTo>
                    <a:pt x="451147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451147" y="203200"/>
                  </a:lnTo>
                  <a:lnTo>
                    <a:pt x="451147" y="406400"/>
                  </a:lnTo>
                  <a:lnTo>
                    <a:pt x="857547" y="2032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46050"/>
              <a:ext cx="755947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8512407"/>
            <a:ext cx="2537341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Healthy BMI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46624" y="8512407"/>
            <a:ext cx="4446865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Lower Blood Pressure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42176" y="8512407"/>
            <a:ext cx="5964912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Cardiovascular Health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08995" y="8302242"/>
            <a:ext cx="2217476" cy="1050884"/>
            <a:chOff x="0" y="0"/>
            <a:chExt cx="857547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7547" cy="406400"/>
            </a:xfrm>
            <a:custGeom>
              <a:avLst/>
              <a:gdLst/>
              <a:ahLst/>
              <a:cxnLst/>
              <a:rect l="l" t="t" r="r" b="b"/>
              <a:pathLst>
                <a:path w="857547" h="406400">
                  <a:moveTo>
                    <a:pt x="857547" y="203200"/>
                  </a:moveTo>
                  <a:lnTo>
                    <a:pt x="451147" y="0"/>
                  </a:lnTo>
                  <a:lnTo>
                    <a:pt x="451147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451147" y="203200"/>
                  </a:lnTo>
                  <a:lnTo>
                    <a:pt x="451147" y="406400"/>
                  </a:lnTo>
                  <a:lnTo>
                    <a:pt x="857547" y="2032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46050"/>
              <a:ext cx="755947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66" y="7052764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86525" y="712795"/>
            <a:ext cx="644517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 Sleep Disorders</a:t>
            </a:r>
          </a:p>
        </p:txBody>
      </p:sp>
      <p:sp>
        <p:nvSpPr>
          <p:cNvPr id="5" name="Freeform 5"/>
          <p:cNvSpPr/>
          <p:nvPr/>
        </p:nvSpPr>
        <p:spPr>
          <a:xfrm rot="10800000">
            <a:off x="12410880" y="7058036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800000">
            <a:off x="1251" y="19071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0836" y="1606993"/>
            <a:ext cx="8167086" cy="7637047"/>
          </a:xfrm>
          <a:custGeom>
            <a:avLst/>
            <a:gdLst/>
            <a:ahLst/>
            <a:cxnLst/>
            <a:rect l="l" t="t" r="r" b="b"/>
            <a:pathLst>
              <a:path w="6860800" h="5644962">
                <a:moveTo>
                  <a:pt x="0" y="0"/>
                </a:moveTo>
                <a:lnTo>
                  <a:pt x="6860799" y="0"/>
                </a:lnTo>
                <a:lnTo>
                  <a:pt x="6860799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1615346"/>
            <a:ext cx="8742332" cy="7596036"/>
          </a:xfrm>
          <a:custGeom>
            <a:avLst/>
            <a:gdLst/>
            <a:ahLst/>
            <a:cxnLst/>
            <a:rect l="l" t="t" r="r" b="b"/>
            <a:pathLst>
              <a:path w="6859104" h="5625724">
                <a:moveTo>
                  <a:pt x="0" y="0"/>
                </a:moveTo>
                <a:lnTo>
                  <a:pt x="6859104" y="0"/>
                </a:lnTo>
                <a:lnTo>
                  <a:pt x="6859104" y="5625724"/>
                </a:lnTo>
                <a:lnTo>
                  <a:pt x="0" y="56257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643" y="8586416"/>
            <a:ext cx="2670311" cy="1830405"/>
          </a:xfrm>
          <a:custGeom>
            <a:avLst/>
            <a:gdLst/>
            <a:ahLst/>
            <a:cxnLst/>
            <a:rect l="l" t="t" r="r" b="b"/>
            <a:pathLst>
              <a:path w="2670311" h="1830405">
                <a:moveTo>
                  <a:pt x="2670311" y="1830406"/>
                </a:moveTo>
                <a:lnTo>
                  <a:pt x="0" y="1830406"/>
                </a:lnTo>
                <a:lnTo>
                  <a:pt x="0" y="0"/>
                </a:lnTo>
                <a:lnTo>
                  <a:pt x="2670311" y="0"/>
                </a:lnTo>
                <a:lnTo>
                  <a:pt x="2670311" y="1830406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86525" y="712795"/>
            <a:ext cx="644517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 Sleep Disorders</a:t>
            </a:r>
          </a:p>
        </p:txBody>
      </p:sp>
      <p:sp>
        <p:nvSpPr>
          <p:cNvPr id="5" name="Freeform 5"/>
          <p:cNvSpPr/>
          <p:nvPr/>
        </p:nvSpPr>
        <p:spPr>
          <a:xfrm rot="10800000">
            <a:off x="12236709" y="2573121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800000">
            <a:off x="1251" y="-122443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8589" y="1483219"/>
            <a:ext cx="17076673" cy="5998119"/>
          </a:xfrm>
          <a:custGeom>
            <a:avLst/>
            <a:gdLst/>
            <a:ahLst/>
            <a:cxnLst/>
            <a:rect l="l" t="t" r="r" b="b"/>
            <a:pathLst>
              <a:path w="14028675" h="5823948">
                <a:moveTo>
                  <a:pt x="0" y="0"/>
                </a:moveTo>
                <a:lnTo>
                  <a:pt x="14028675" y="0"/>
                </a:lnTo>
                <a:lnTo>
                  <a:pt x="14028675" y="5823948"/>
                </a:lnTo>
                <a:lnTo>
                  <a:pt x="0" y="5823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831445" y="8220793"/>
            <a:ext cx="1287233" cy="1287233"/>
            <a:chOff x="0" y="0"/>
            <a:chExt cx="4064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6400" y="203200"/>
                  </a:moveTo>
                  <a:lnTo>
                    <a:pt x="0" y="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406400"/>
                  </a:lnTo>
                  <a:lnTo>
                    <a:pt x="406400" y="2032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46050"/>
              <a:ext cx="304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6935" y="8494703"/>
            <a:ext cx="18288000" cy="553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Stress                 Poor Sleep                  </a:t>
            </a:r>
            <a:r>
              <a:rPr lang="en-US" sz="3300" b="1" dirty="0" err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Sleep</a:t>
            </a:r>
            <a:r>
              <a:rPr lang="en-US" sz="3300" b="1" dirty="0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Disorders                           Elevated Blood Pressure</a:t>
            </a:r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1825617" y="8134481"/>
            <a:ext cx="1287233" cy="1287233"/>
            <a:chOff x="0" y="0"/>
            <a:chExt cx="4064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6400" y="203200"/>
                  </a:moveTo>
                  <a:lnTo>
                    <a:pt x="0" y="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406400"/>
                  </a:lnTo>
                  <a:lnTo>
                    <a:pt x="406400" y="2032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76981"/>
              <a:ext cx="304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80968" y="8134481"/>
            <a:ext cx="1287233" cy="1287233"/>
            <a:chOff x="0" y="0"/>
            <a:chExt cx="4064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406400" y="203200"/>
                  </a:moveTo>
                  <a:lnTo>
                    <a:pt x="0" y="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203200"/>
                  </a:lnTo>
                  <a:lnTo>
                    <a:pt x="0" y="406400"/>
                  </a:lnTo>
                  <a:lnTo>
                    <a:pt x="406400" y="203200"/>
                  </a:lnTo>
                  <a:close/>
                </a:path>
              </a:pathLst>
            </a:custGeom>
            <a:solidFill>
              <a:srgbClr val="BD547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46050"/>
              <a:ext cx="304800" cy="57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53066" y="7052764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69381" y="1205123"/>
            <a:ext cx="8499644" cy="4758155"/>
          </a:xfrm>
          <a:custGeom>
            <a:avLst/>
            <a:gdLst/>
            <a:ahLst/>
            <a:cxnLst/>
            <a:rect l="l" t="t" r="r" b="b"/>
            <a:pathLst>
              <a:path w="7596130" h="4725499">
                <a:moveTo>
                  <a:pt x="0" y="0"/>
                </a:moveTo>
                <a:lnTo>
                  <a:pt x="7596130" y="0"/>
                </a:lnTo>
                <a:lnTo>
                  <a:pt x="7596130" y="4725499"/>
                </a:lnTo>
                <a:lnTo>
                  <a:pt x="0" y="47254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1524" y="1466752"/>
            <a:ext cx="8948193" cy="5589302"/>
          </a:xfrm>
          <a:custGeom>
            <a:avLst/>
            <a:gdLst/>
            <a:ahLst/>
            <a:cxnLst/>
            <a:rect l="l" t="t" r="r" b="b"/>
            <a:pathLst>
              <a:path w="7206479" h="4457187">
                <a:moveTo>
                  <a:pt x="0" y="0"/>
                </a:moveTo>
                <a:lnTo>
                  <a:pt x="7206480" y="0"/>
                </a:lnTo>
                <a:lnTo>
                  <a:pt x="7206480" y="4457186"/>
                </a:lnTo>
                <a:lnTo>
                  <a:pt x="0" y="4457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38753" y="5966000"/>
            <a:ext cx="8855414" cy="4272548"/>
          </a:xfrm>
          <a:custGeom>
            <a:avLst/>
            <a:gdLst/>
            <a:ahLst/>
            <a:cxnLst/>
            <a:rect l="l" t="t" r="r" b="b"/>
            <a:pathLst>
              <a:path w="6765357" h="4174577">
                <a:moveTo>
                  <a:pt x="0" y="0"/>
                </a:moveTo>
                <a:lnTo>
                  <a:pt x="6765357" y="0"/>
                </a:lnTo>
                <a:lnTo>
                  <a:pt x="6765357" y="4174577"/>
                </a:lnTo>
                <a:lnTo>
                  <a:pt x="0" y="417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9536" y="42308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Occupation and Demographics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44743" y="8499657"/>
            <a:ext cx="7679752" cy="764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BD5479"/>
                </a:solidFill>
                <a:latin typeface="TAN Headline"/>
                <a:ea typeface="TAN Headline"/>
                <a:cs typeface="TAN Headline"/>
                <a:sym typeface="TAN Headline"/>
              </a:rPr>
              <a:t>Occupation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30887" cy="4962636"/>
          </a:xfrm>
          <a:custGeom>
            <a:avLst/>
            <a:gdLst/>
            <a:ahLst/>
            <a:cxnLst/>
            <a:rect l="l" t="t" r="r" b="b"/>
            <a:pathLst>
              <a:path w="12130887" h="4962636">
                <a:moveTo>
                  <a:pt x="0" y="0"/>
                </a:moveTo>
                <a:lnTo>
                  <a:pt x="12130887" y="0"/>
                </a:lnTo>
                <a:lnTo>
                  <a:pt x="12130887" y="4962636"/>
                </a:lnTo>
                <a:lnTo>
                  <a:pt x="0" y="496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962636"/>
            <a:ext cx="6833174" cy="5256288"/>
          </a:xfrm>
          <a:custGeom>
            <a:avLst/>
            <a:gdLst/>
            <a:ahLst/>
            <a:cxnLst/>
            <a:rect l="l" t="t" r="r" b="b"/>
            <a:pathLst>
              <a:path w="6833174" h="5256288">
                <a:moveTo>
                  <a:pt x="0" y="0"/>
                </a:moveTo>
                <a:lnTo>
                  <a:pt x="6833174" y="0"/>
                </a:lnTo>
                <a:lnTo>
                  <a:pt x="6833174" y="5256287"/>
                </a:lnTo>
                <a:lnTo>
                  <a:pt x="0" y="5256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33174" y="4799350"/>
            <a:ext cx="7098302" cy="5458641"/>
          </a:xfrm>
          <a:custGeom>
            <a:avLst/>
            <a:gdLst/>
            <a:ahLst/>
            <a:cxnLst/>
            <a:rect l="l" t="t" r="r" b="b"/>
            <a:pathLst>
              <a:path w="7141844" h="5589269">
                <a:moveTo>
                  <a:pt x="0" y="0"/>
                </a:moveTo>
                <a:lnTo>
                  <a:pt x="7141843" y="0"/>
                </a:lnTo>
                <a:lnTo>
                  <a:pt x="7141843" y="5589268"/>
                </a:lnTo>
                <a:lnTo>
                  <a:pt x="0" y="558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01400" y="6687051"/>
            <a:ext cx="3531872" cy="3531872"/>
          </a:xfrm>
          <a:custGeom>
            <a:avLst/>
            <a:gdLst/>
            <a:ahLst/>
            <a:cxnLst/>
            <a:rect l="l" t="t" r="r" b="b"/>
            <a:pathLst>
              <a:path w="3531872" h="3531872">
                <a:moveTo>
                  <a:pt x="0" y="0"/>
                </a:moveTo>
                <a:lnTo>
                  <a:pt x="3531872" y="0"/>
                </a:lnTo>
                <a:lnTo>
                  <a:pt x="3531872" y="3531872"/>
                </a:lnTo>
                <a:lnTo>
                  <a:pt x="0" y="353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590494" y="1709793"/>
            <a:ext cx="520017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BD5479"/>
                </a:solidFill>
                <a:latin typeface="TAN Headline"/>
                <a:ea typeface="TAN Headline"/>
                <a:cs typeface="TAN Headline"/>
                <a:sym typeface="TAN Headline"/>
              </a:rPr>
              <a:t>Gender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771" y="65315"/>
            <a:ext cx="12451403" cy="5075121"/>
          </a:xfrm>
          <a:custGeom>
            <a:avLst/>
            <a:gdLst/>
            <a:ahLst/>
            <a:cxnLst/>
            <a:rect l="l" t="t" r="r" b="b"/>
            <a:pathLst>
              <a:path w="12113946" h="5020693">
                <a:moveTo>
                  <a:pt x="0" y="0"/>
                </a:moveTo>
                <a:lnTo>
                  <a:pt x="12113946" y="0"/>
                </a:lnTo>
                <a:lnTo>
                  <a:pt x="12113946" y="5020693"/>
                </a:lnTo>
                <a:lnTo>
                  <a:pt x="0" y="5020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3486" y="5187043"/>
            <a:ext cx="8163407" cy="5103292"/>
          </a:xfrm>
          <a:custGeom>
            <a:avLst/>
            <a:gdLst/>
            <a:ahLst/>
            <a:cxnLst/>
            <a:rect l="l" t="t" r="r" b="b"/>
            <a:pathLst>
              <a:path w="6465236" h="5059750">
                <a:moveTo>
                  <a:pt x="0" y="0"/>
                </a:moveTo>
                <a:lnTo>
                  <a:pt x="6465236" y="0"/>
                </a:lnTo>
                <a:lnTo>
                  <a:pt x="6465236" y="5059750"/>
                </a:lnTo>
                <a:lnTo>
                  <a:pt x="0" y="505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598823" y="7674736"/>
            <a:ext cx="526129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BD5479"/>
                </a:solidFill>
                <a:latin typeface="TAN Headline"/>
                <a:ea typeface="TAN Headline"/>
                <a:cs typeface="TAN Headline"/>
                <a:sym typeface="TAN Headline"/>
              </a:rPr>
              <a:t>Age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88912" y="504755"/>
            <a:ext cx="4865998" cy="346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BD5479"/>
                </a:solidFill>
                <a:latin typeface="TAN Headline"/>
                <a:ea typeface="TAN Headline"/>
                <a:cs typeface="TAN Headline"/>
                <a:sym typeface="TAN Headline"/>
              </a:rPr>
              <a:t>Different occupations and demographic factors influence stress and sleep behavior.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891963" y="6878593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68542" y="561975"/>
            <a:ext cx="1275448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Correlation Heatmap</a:t>
            </a:r>
          </a:p>
        </p:txBody>
      </p:sp>
      <p:sp>
        <p:nvSpPr>
          <p:cNvPr id="5" name="Freeform 5"/>
          <p:cNvSpPr/>
          <p:nvPr/>
        </p:nvSpPr>
        <p:spPr>
          <a:xfrm rot="10800000">
            <a:off x="186223" y="112950"/>
            <a:ext cx="3913304" cy="23757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800000">
            <a:off x="15219481" y="7802357"/>
            <a:ext cx="2890047" cy="2451987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300843"/>
            <a:ext cx="10317204" cy="8953500"/>
          </a:xfrm>
          <a:custGeom>
            <a:avLst/>
            <a:gdLst/>
            <a:ahLst/>
            <a:cxnLst/>
            <a:rect l="l" t="t" r="r" b="b"/>
            <a:pathLst>
              <a:path w="10317204" h="8953500">
                <a:moveTo>
                  <a:pt x="0" y="0"/>
                </a:moveTo>
                <a:lnTo>
                  <a:pt x="10317204" y="0"/>
                </a:lnTo>
                <a:lnTo>
                  <a:pt x="10317204" y="8953500"/>
                </a:lnTo>
                <a:lnTo>
                  <a:pt x="0" y="895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63497" y="1551209"/>
            <a:ext cx="6250351" cy="250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1"/>
              </a:lnSpc>
              <a:spcBef>
                <a:spcPct val="0"/>
              </a:spcBef>
            </a:pPr>
            <a:r>
              <a:rPr lang="en-US" sz="2886" b="1" u="sng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Positive</a:t>
            </a:r>
          </a:p>
          <a:p>
            <a:pPr marL="623253" lvl="1" indent="-311626" algn="just">
              <a:lnSpc>
                <a:spcPts val="4041"/>
              </a:lnSpc>
              <a:spcBef>
                <a:spcPct val="0"/>
              </a:spcBef>
              <a:buFont typeface="Arial"/>
              <a:buChar char="•"/>
            </a:pPr>
            <a:r>
              <a:rPr lang="en-US" sz="2886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Sleep Duration ↔ Quality of Sleep (0.88)</a:t>
            </a:r>
          </a:p>
          <a:p>
            <a:pPr marL="623253" lvl="1" indent="-311626" algn="just">
              <a:lnSpc>
                <a:spcPts val="4041"/>
              </a:lnSpc>
              <a:spcBef>
                <a:spcPct val="0"/>
              </a:spcBef>
              <a:buFont typeface="Arial"/>
              <a:buChar char="•"/>
            </a:pPr>
            <a:r>
              <a:rPr lang="en-US" sz="2886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Physical Activity  ↔ Daily Steps (0.77)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3033" y="4780153"/>
            <a:ext cx="6250351" cy="200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5"/>
              </a:lnSpc>
              <a:spcBef>
                <a:spcPct val="0"/>
              </a:spcBef>
            </a:pPr>
            <a:r>
              <a:rPr lang="en-US" sz="2889" b="1" u="sng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 Negative</a:t>
            </a:r>
          </a:p>
          <a:p>
            <a:pPr marL="623950" lvl="1" indent="-311975" algn="just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sz="2889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Stress ↔ Quality of Sleep (-0.90)</a:t>
            </a:r>
          </a:p>
          <a:p>
            <a:pPr marL="623950" lvl="1" indent="-311975" algn="just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sz="2889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Stress ↔ Sleep Duration (-0.81)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42570" y="7507097"/>
            <a:ext cx="6250351" cy="99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45"/>
              </a:lnSpc>
              <a:spcBef>
                <a:spcPct val="0"/>
              </a:spcBef>
            </a:pPr>
            <a:r>
              <a:rPr lang="en-US" sz="2889" b="1" u="sng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Positive</a:t>
            </a:r>
          </a:p>
          <a:p>
            <a:pPr marL="623950" lvl="1" indent="-311975" algn="just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sz="2889" b="1">
                <a:solidFill>
                  <a:srgbClr val="2B228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Stress ↔ Heart Rate (0.67)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66" y="6889479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4720101" y="3235414"/>
                </a:moveTo>
                <a:lnTo>
                  <a:pt x="0" y="3235414"/>
                </a:lnTo>
                <a:lnTo>
                  <a:pt x="0" y="0"/>
                </a:lnTo>
                <a:lnTo>
                  <a:pt x="4720101" y="0"/>
                </a:lnTo>
                <a:lnTo>
                  <a:pt x="4720101" y="323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4313003" y="3011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84970" y="1316167"/>
            <a:ext cx="11139662" cy="8970833"/>
          </a:xfrm>
          <a:custGeom>
            <a:avLst/>
            <a:gdLst/>
            <a:ahLst/>
            <a:cxnLst/>
            <a:rect l="l" t="t" r="r" b="b"/>
            <a:pathLst>
              <a:path w="11139662" h="8970833">
                <a:moveTo>
                  <a:pt x="0" y="0"/>
                </a:moveTo>
                <a:lnTo>
                  <a:pt x="11139662" y="0"/>
                </a:lnTo>
                <a:lnTo>
                  <a:pt x="11139662" y="8970833"/>
                </a:lnTo>
                <a:lnTo>
                  <a:pt x="0" y="897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000"/>
            </a:blip>
            <a:stretch>
              <a:fillRect l="-2640" t="-13331" r="-1982" b="-496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296897" y="257175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Interrelationship Diagram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4280346" y="24782"/>
            <a:ext cx="3978430" cy="3920562"/>
          </a:xfrm>
          <a:custGeom>
            <a:avLst/>
            <a:gdLst/>
            <a:ahLst/>
            <a:cxnLst/>
            <a:rect l="l" t="t" r="r" b="b"/>
            <a:pathLst>
              <a:path w="3978430" h="3920562">
                <a:moveTo>
                  <a:pt x="0" y="3920561"/>
                </a:moveTo>
                <a:lnTo>
                  <a:pt x="3978430" y="3920561"/>
                </a:lnTo>
                <a:lnTo>
                  <a:pt x="3978430" y="0"/>
                </a:lnTo>
                <a:lnTo>
                  <a:pt x="0" y="0"/>
                </a:lnTo>
                <a:lnTo>
                  <a:pt x="0" y="392056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65" y="6198584"/>
            <a:ext cx="3919766" cy="4090838"/>
          </a:xfrm>
          <a:custGeom>
            <a:avLst/>
            <a:gdLst/>
            <a:ahLst/>
            <a:cxnLst/>
            <a:rect l="l" t="t" r="r" b="b"/>
            <a:pathLst>
              <a:path w="3919766" h="4090838">
                <a:moveTo>
                  <a:pt x="3919766" y="0"/>
                </a:moveTo>
                <a:lnTo>
                  <a:pt x="0" y="0"/>
                </a:lnTo>
                <a:lnTo>
                  <a:pt x="0" y="4090838"/>
                </a:lnTo>
                <a:lnTo>
                  <a:pt x="3919766" y="4090838"/>
                </a:lnTo>
                <a:lnTo>
                  <a:pt x="391976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00000">
            <a:off x="12410880" y="6938293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800000">
            <a:off x="1251" y="236785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2" y="0"/>
                </a:lnTo>
                <a:lnTo>
                  <a:pt x="5872732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644733" y="2270376"/>
            <a:ext cx="13485732" cy="7244769"/>
            <a:chOff x="0" y="0"/>
            <a:chExt cx="1064188" cy="571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4188" cy="571700"/>
            </a:xfrm>
            <a:custGeom>
              <a:avLst/>
              <a:gdLst/>
              <a:ahLst/>
              <a:cxnLst/>
              <a:rect l="l" t="t" r="r" b="b"/>
              <a:pathLst>
                <a:path w="1064188" h="571700">
                  <a:moveTo>
                    <a:pt x="20631" y="0"/>
                  </a:moveTo>
                  <a:lnTo>
                    <a:pt x="1043557" y="0"/>
                  </a:lnTo>
                  <a:cubicBezTo>
                    <a:pt x="1054951" y="0"/>
                    <a:pt x="1064188" y="9237"/>
                    <a:pt x="1064188" y="20631"/>
                  </a:cubicBezTo>
                  <a:lnTo>
                    <a:pt x="1064188" y="551069"/>
                  </a:lnTo>
                  <a:cubicBezTo>
                    <a:pt x="1064188" y="556541"/>
                    <a:pt x="1062014" y="561788"/>
                    <a:pt x="1058145" y="565657"/>
                  </a:cubicBezTo>
                  <a:cubicBezTo>
                    <a:pt x="1054276" y="569526"/>
                    <a:pt x="1049028" y="571700"/>
                    <a:pt x="1043557" y="571700"/>
                  </a:cubicBezTo>
                  <a:lnTo>
                    <a:pt x="20631" y="571700"/>
                  </a:lnTo>
                  <a:cubicBezTo>
                    <a:pt x="15159" y="571700"/>
                    <a:pt x="9912" y="569526"/>
                    <a:pt x="6043" y="565657"/>
                  </a:cubicBezTo>
                  <a:cubicBezTo>
                    <a:pt x="2174" y="561788"/>
                    <a:pt x="0" y="556541"/>
                    <a:pt x="0" y="551069"/>
                  </a:cubicBezTo>
                  <a:lnTo>
                    <a:pt x="0" y="20631"/>
                  </a:lnTo>
                  <a:cubicBezTo>
                    <a:pt x="0" y="15159"/>
                    <a:pt x="2174" y="9912"/>
                    <a:pt x="6043" y="6043"/>
                  </a:cubicBezTo>
                  <a:cubicBezTo>
                    <a:pt x="9912" y="2174"/>
                    <a:pt x="15159" y="0"/>
                    <a:pt x="20631" y="0"/>
                  </a:cubicBezTo>
                  <a:close/>
                </a:path>
              </a:pathLst>
            </a:custGeom>
            <a:solidFill>
              <a:srgbClr val="C6A8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64188" cy="609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298217" y="1203576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Conclusions</a:t>
            </a:r>
          </a:p>
        </p:txBody>
      </p:sp>
      <p:grpSp>
        <p:nvGrpSpPr>
          <p:cNvPr id="10" name="Group 10"/>
          <p:cNvGrpSpPr/>
          <p:nvPr/>
        </p:nvGrpSpPr>
        <p:grpSpPr>
          <a:xfrm rot="-183288">
            <a:off x="15914010" y="4670779"/>
            <a:ext cx="342095" cy="358139"/>
            <a:chOff x="0" y="0"/>
            <a:chExt cx="776389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6389" cy="812800"/>
            </a:xfrm>
            <a:custGeom>
              <a:avLst/>
              <a:gdLst/>
              <a:ahLst/>
              <a:cxnLst/>
              <a:rect l="l" t="t" r="r" b="b"/>
              <a:pathLst>
                <a:path w="776389" h="812800">
                  <a:moveTo>
                    <a:pt x="388195" y="0"/>
                  </a:moveTo>
                  <a:cubicBezTo>
                    <a:pt x="173801" y="0"/>
                    <a:pt x="0" y="181951"/>
                    <a:pt x="0" y="406400"/>
                  </a:cubicBezTo>
                  <a:cubicBezTo>
                    <a:pt x="0" y="630849"/>
                    <a:pt x="173801" y="812800"/>
                    <a:pt x="388195" y="812800"/>
                  </a:cubicBezTo>
                  <a:cubicBezTo>
                    <a:pt x="602588" y="812800"/>
                    <a:pt x="776389" y="630849"/>
                    <a:pt x="776389" y="406400"/>
                  </a:cubicBezTo>
                  <a:cubicBezTo>
                    <a:pt x="776389" y="181951"/>
                    <a:pt x="602588" y="0"/>
                    <a:pt x="388195" y="0"/>
                  </a:cubicBezTo>
                  <a:close/>
                </a:path>
              </a:pathLst>
            </a:custGeom>
            <a:solidFill>
              <a:srgbClr val="F8C19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2786" y="38100"/>
              <a:ext cx="63081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83288">
            <a:off x="15457566" y="4670779"/>
            <a:ext cx="342095" cy="358139"/>
            <a:chOff x="0" y="0"/>
            <a:chExt cx="77638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76389" cy="812800"/>
            </a:xfrm>
            <a:custGeom>
              <a:avLst/>
              <a:gdLst/>
              <a:ahLst/>
              <a:cxnLst/>
              <a:rect l="l" t="t" r="r" b="b"/>
              <a:pathLst>
                <a:path w="776389" h="812800">
                  <a:moveTo>
                    <a:pt x="388195" y="0"/>
                  </a:moveTo>
                  <a:cubicBezTo>
                    <a:pt x="173801" y="0"/>
                    <a:pt x="0" y="181951"/>
                    <a:pt x="0" y="406400"/>
                  </a:cubicBezTo>
                  <a:cubicBezTo>
                    <a:pt x="0" y="630849"/>
                    <a:pt x="173801" y="812800"/>
                    <a:pt x="388195" y="812800"/>
                  </a:cubicBezTo>
                  <a:cubicBezTo>
                    <a:pt x="602588" y="812800"/>
                    <a:pt x="776389" y="630849"/>
                    <a:pt x="776389" y="406400"/>
                  </a:cubicBezTo>
                  <a:cubicBezTo>
                    <a:pt x="776389" y="181951"/>
                    <a:pt x="602588" y="0"/>
                    <a:pt x="388195" y="0"/>
                  </a:cubicBezTo>
                  <a:close/>
                </a:path>
              </a:pathLst>
            </a:custGeom>
            <a:solidFill>
              <a:srgbClr val="F8C19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2786" y="38100"/>
              <a:ext cx="63081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503999" y="3011805"/>
            <a:ext cx="12304963" cy="627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4"/>
              </a:lnSpc>
            </a:pPr>
            <a:r>
              <a:rPr lang="en-US" sz="322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Better sleep improves sleep quality.</a:t>
            </a:r>
          </a:p>
          <a:p>
            <a:pPr marL="696265" lvl="1" indent="-348132" algn="l">
              <a:lnSpc>
                <a:spcPts val="4514"/>
              </a:lnSpc>
              <a:buFont typeface="Arial"/>
              <a:buChar char="•"/>
            </a:pPr>
            <a:r>
              <a:rPr lang="en-US" sz="32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Stress negatively affects sleep.</a:t>
            </a:r>
          </a:p>
          <a:p>
            <a:pPr marL="696265" lvl="1" indent="-348132" algn="l">
              <a:lnSpc>
                <a:spcPts val="4514"/>
              </a:lnSpc>
              <a:spcBef>
                <a:spcPct val="0"/>
              </a:spcBef>
              <a:buFont typeface="Arial"/>
              <a:buChar char="•"/>
            </a:pPr>
            <a:r>
              <a:rPr lang="en-US" sz="32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Physical activity contributes to healthier sleep and BMI.</a:t>
            </a:r>
          </a:p>
          <a:p>
            <a:pPr marL="696265" lvl="1" indent="-348132" algn="l">
              <a:lnSpc>
                <a:spcPts val="4514"/>
              </a:lnSpc>
              <a:spcBef>
                <a:spcPct val="0"/>
              </a:spcBef>
              <a:buFont typeface="Arial"/>
              <a:buChar char="•"/>
            </a:pPr>
            <a:r>
              <a:rPr lang="en-US" sz="32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Healthy BMI supports cardiovascular health.</a:t>
            </a:r>
          </a:p>
          <a:p>
            <a:pPr marL="696265" lvl="1" indent="-348132" algn="l">
              <a:lnSpc>
                <a:spcPts val="4514"/>
              </a:lnSpc>
              <a:spcBef>
                <a:spcPct val="0"/>
              </a:spcBef>
              <a:buFont typeface="Arial"/>
              <a:buChar char="•"/>
            </a:pPr>
            <a:r>
              <a:rPr lang="en-US" sz="32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Sleep disorders are associated with elevated stress and blood pressure.</a:t>
            </a:r>
          </a:p>
          <a:p>
            <a:pPr marL="696265" lvl="1" indent="-348132" algn="l">
              <a:lnSpc>
                <a:spcPts val="4514"/>
              </a:lnSpc>
              <a:spcBef>
                <a:spcPct val="0"/>
              </a:spcBef>
              <a:buFont typeface="Arial"/>
              <a:buChar char="•"/>
            </a:pPr>
            <a:r>
              <a:rPr lang="en-US" sz="32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Occupation and demographic factors indirectly affect sleep.</a:t>
            </a:r>
          </a:p>
          <a:p>
            <a:pPr marL="696265" lvl="1" indent="-348132" algn="l">
              <a:lnSpc>
                <a:spcPts val="4514"/>
              </a:lnSpc>
              <a:spcBef>
                <a:spcPct val="0"/>
              </a:spcBef>
              <a:buFont typeface="Arial"/>
              <a:buChar char="•"/>
            </a:pPr>
            <a:r>
              <a:rPr lang="en-US" sz="32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Sleep is interconnected with nearly every aspect of health.</a:t>
            </a:r>
          </a:p>
          <a:p>
            <a:pPr algn="l">
              <a:lnSpc>
                <a:spcPts val="4514"/>
              </a:lnSpc>
              <a:spcBef>
                <a:spcPct val="0"/>
              </a:spcBef>
            </a:pPr>
            <a:endParaRPr lang="en-US" sz="3224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69535" y="-1178"/>
            <a:ext cx="4720101" cy="3235415"/>
          </a:xfrm>
          <a:custGeom>
            <a:avLst/>
            <a:gdLst/>
            <a:ahLst/>
            <a:cxnLst/>
            <a:rect l="l" t="t" r="r" b="b"/>
            <a:pathLst>
              <a:path w="4720101" h="3235415">
                <a:moveTo>
                  <a:pt x="0" y="0"/>
                </a:moveTo>
                <a:lnTo>
                  <a:pt x="4720101" y="0"/>
                </a:lnTo>
                <a:lnTo>
                  <a:pt x="4720101" y="3235414"/>
                </a:lnTo>
                <a:lnTo>
                  <a:pt x="0" y="3235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200000" flipH="1" flipV="1">
            <a:off x="14299357" y="6295922"/>
            <a:ext cx="3007180" cy="4966814"/>
          </a:xfrm>
          <a:custGeom>
            <a:avLst/>
            <a:gdLst/>
            <a:ahLst/>
            <a:cxnLst/>
            <a:rect l="l" t="t" r="r" b="b"/>
            <a:pathLst>
              <a:path w="3007180" h="4966814">
                <a:moveTo>
                  <a:pt x="3007181" y="4966814"/>
                </a:moveTo>
                <a:lnTo>
                  <a:pt x="0" y="4966814"/>
                </a:lnTo>
                <a:lnTo>
                  <a:pt x="0" y="0"/>
                </a:lnTo>
                <a:lnTo>
                  <a:pt x="3007181" y="0"/>
                </a:lnTo>
                <a:lnTo>
                  <a:pt x="3007181" y="4966814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065" y="-1722"/>
            <a:ext cx="4672900" cy="4437369"/>
          </a:xfrm>
          <a:custGeom>
            <a:avLst/>
            <a:gdLst/>
            <a:ahLst/>
            <a:cxnLst/>
            <a:rect l="l" t="t" r="r" b="b"/>
            <a:pathLst>
              <a:path w="4966814" h="4894569">
                <a:moveTo>
                  <a:pt x="4966814" y="4894569"/>
                </a:moveTo>
                <a:lnTo>
                  <a:pt x="0" y="4894569"/>
                </a:lnTo>
                <a:lnTo>
                  <a:pt x="0" y="0"/>
                </a:lnTo>
                <a:lnTo>
                  <a:pt x="4966814" y="0"/>
                </a:lnTo>
                <a:lnTo>
                  <a:pt x="4966814" y="4894569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1671" y="4602753"/>
            <a:ext cx="16316755" cy="3056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5"/>
              </a:lnSpc>
            </a:pPr>
            <a:r>
              <a:rPr lang="en-US" sz="3199" b="1">
                <a:solidFill>
                  <a:srgbClr val="BD547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SLEEP IS NOT MERELY A PERIOD OF REST BUT A FOUNDATION OF PHYSICAL, MENTAL, AND CARDIOVASCULAR WELL-BEING. MAINTAINING HEALTHY SLEEP HABITS, ALONG WITH REGULAR PHYSICAL ACTIVITY AND EFFECTIVE STRESS MANAGEMENT, IS ESSENTIAL FOR IMPROVING OVERALL QUALITY OF LIFE.</a:t>
            </a:r>
          </a:p>
          <a:p>
            <a:pPr algn="l">
              <a:lnSpc>
                <a:spcPts val="4895"/>
              </a:lnSpc>
            </a:pPr>
            <a:endParaRPr lang="en-US" sz="3199" b="1">
              <a:solidFill>
                <a:srgbClr val="BD5479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Freeform 6"/>
          <p:cNvSpPr/>
          <p:nvPr/>
        </p:nvSpPr>
        <p:spPr>
          <a:xfrm rot="10800000">
            <a:off x="2176" y="7068921"/>
            <a:ext cx="5872732" cy="3213986"/>
          </a:xfrm>
          <a:custGeom>
            <a:avLst/>
            <a:gdLst/>
            <a:ahLst/>
            <a:cxnLst/>
            <a:rect l="l" t="t" r="r" b="b"/>
            <a:pathLst>
              <a:path w="5872732" h="3213986">
                <a:moveTo>
                  <a:pt x="0" y="0"/>
                </a:moveTo>
                <a:lnTo>
                  <a:pt x="5872731" y="0"/>
                </a:lnTo>
                <a:lnTo>
                  <a:pt x="5872731" y="3213986"/>
                </a:lnTo>
                <a:lnTo>
                  <a:pt x="0" y="32139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0" y="1874882"/>
            <a:ext cx="182880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u="sng">
                <a:solidFill>
                  <a:srgbClr val="2B228D"/>
                </a:solidFill>
                <a:latin typeface="TAN Headline"/>
                <a:ea typeface="TAN Headline"/>
                <a:cs typeface="TAN Headline"/>
                <a:sym typeface="TAN Headline"/>
              </a:rPr>
              <a:t>Final Takeaway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Office PowerPoint</Application>
  <PresentationFormat>Custom</PresentationFormat>
  <Paragraphs>70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Sleep on Lifestyle and Health</dc:title>
  <cp:lastModifiedBy>Navjot kaur</cp:lastModifiedBy>
  <cp:revision>114</cp:revision>
  <dcterms:created xsi:type="dcterms:W3CDTF">2006-08-16T00:00:00Z</dcterms:created>
  <dcterms:modified xsi:type="dcterms:W3CDTF">2026-06-18T16:18:35Z</dcterms:modified>
  <dc:identifier>DAHM6MXaY88</dc:identifier>
</cp:coreProperties>
</file>